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5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2D61D-11B6-4246-80D1-6E441034E767}" v="2" dt="2025-12-04T02:11:00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3072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CE7349-5E0C-4897-86A1-A6FDD32A42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3CCCF9-8258-4A49-BD8F-75862ABF324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Includes Tables, Package, Procedures, Views, Test Cases</a:t>
          </a:r>
        </a:p>
      </dgm:t>
    </dgm:pt>
    <dgm:pt modelId="{0DA79140-0E71-4388-9DB2-589747C6F5E1}" type="parTrans" cxnId="{B15DBDF3-ABE9-41B9-A4D9-CD9D1B110AA8}">
      <dgm:prSet/>
      <dgm:spPr/>
      <dgm:t>
        <a:bodyPr/>
        <a:lstStyle/>
        <a:p>
          <a:endParaRPr lang="en-US"/>
        </a:p>
      </dgm:t>
    </dgm:pt>
    <dgm:pt modelId="{A71BE76D-2C91-4D3B-B64F-B31FD1B68A35}" type="sibTrans" cxnId="{B15DBDF3-ABE9-41B9-A4D9-CD9D1B110AA8}">
      <dgm:prSet/>
      <dgm:spPr/>
      <dgm:t>
        <a:bodyPr/>
        <a:lstStyle/>
        <a:p>
          <a:endParaRPr lang="en-US"/>
        </a:p>
      </dgm:t>
    </dgm:pt>
    <dgm:pt modelId="{F92CF0DE-F605-4DDE-8E07-C16CF7BFB42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Built using Oracle SQL &amp; PL/SQL</a:t>
          </a:r>
        </a:p>
      </dgm:t>
    </dgm:pt>
    <dgm:pt modelId="{49E8EC31-B528-4C63-B23C-C5C862D9CF50}" type="parTrans" cxnId="{17DFED40-A474-4A72-A222-9AF62EFE6DB2}">
      <dgm:prSet/>
      <dgm:spPr/>
      <dgm:t>
        <a:bodyPr/>
        <a:lstStyle/>
        <a:p>
          <a:endParaRPr lang="en-US"/>
        </a:p>
      </dgm:t>
    </dgm:pt>
    <dgm:pt modelId="{1772D204-9CE8-4116-84B5-F304DA48507D}" type="sibTrans" cxnId="{17DFED40-A474-4A72-A222-9AF62EFE6DB2}">
      <dgm:prSet/>
      <dgm:spPr/>
      <dgm:t>
        <a:bodyPr/>
        <a:lstStyle/>
        <a:p>
          <a:endParaRPr lang="en-US"/>
        </a:p>
      </dgm:t>
    </dgm:pt>
    <dgm:pt modelId="{A141A5D2-5819-4D18-950B-AAE6CF6EA21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Final Project Presentation</a:t>
          </a:r>
        </a:p>
      </dgm:t>
    </dgm:pt>
    <dgm:pt modelId="{7F08F41E-FE53-4DE7-A489-C99DAE2E27FE}" type="parTrans" cxnId="{C81104E6-1647-41CE-B189-36FD0AC108A0}">
      <dgm:prSet/>
      <dgm:spPr/>
      <dgm:t>
        <a:bodyPr/>
        <a:lstStyle/>
        <a:p>
          <a:endParaRPr lang="en-US"/>
        </a:p>
      </dgm:t>
    </dgm:pt>
    <dgm:pt modelId="{FBD57C48-A18E-4DA7-A234-D215F3B7E0AD}" type="sibTrans" cxnId="{C81104E6-1647-41CE-B189-36FD0AC108A0}">
      <dgm:prSet/>
      <dgm:spPr/>
      <dgm:t>
        <a:bodyPr/>
        <a:lstStyle/>
        <a:p>
          <a:endParaRPr lang="en-US"/>
        </a:p>
      </dgm:t>
    </dgm:pt>
    <dgm:pt modelId="{6228C62C-63F8-48C3-98B2-B6CE63AE14DE}" type="pres">
      <dgm:prSet presAssocID="{5FCE7349-5E0C-4897-86A1-A6FDD32A42FE}" presName="root" presStyleCnt="0">
        <dgm:presLayoutVars>
          <dgm:dir/>
          <dgm:resizeHandles val="exact"/>
        </dgm:presLayoutVars>
      </dgm:prSet>
      <dgm:spPr/>
    </dgm:pt>
    <dgm:pt modelId="{D9610FD4-A0D8-4C49-BBF6-05AB5CAEE1B7}" type="pres">
      <dgm:prSet presAssocID="{A141A5D2-5819-4D18-950B-AAE6CF6EA217}" presName="compNode" presStyleCnt="0"/>
      <dgm:spPr/>
    </dgm:pt>
    <dgm:pt modelId="{FBFBAE7D-8F1F-40C2-BFEB-183147C84366}" type="pres">
      <dgm:prSet presAssocID="{A141A5D2-5819-4D18-950B-AAE6CF6EA217}" presName="iconBgRect" presStyleLbl="bgShp" presStyleIdx="0" presStyleCnt="3"/>
      <dgm:spPr/>
    </dgm:pt>
    <dgm:pt modelId="{64056D29-7494-46EF-B543-43697B3EEB28}" type="pres">
      <dgm:prSet presAssocID="{A141A5D2-5819-4D18-950B-AAE6CF6EA2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02AEE61-4F43-4C24-A434-3115238A8BF6}" type="pres">
      <dgm:prSet presAssocID="{A141A5D2-5819-4D18-950B-AAE6CF6EA217}" presName="spaceRect" presStyleCnt="0"/>
      <dgm:spPr/>
    </dgm:pt>
    <dgm:pt modelId="{3C3AC980-5643-46E3-8699-45BA77700769}" type="pres">
      <dgm:prSet presAssocID="{A141A5D2-5819-4D18-950B-AAE6CF6EA217}" presName="textRect" presStyleLbl="revTx" presStyleIdx="0" presStyleCnt="3">
        <dgm:presLayoutVars>
          <dgm:chMax val="1"/>
          <dgm:chPref val="1"/>
        </dgm:presLayoutVars>
      </dgm:prSet>
      <dgm:spPr/>
    </dgm:pt>
    <dgm:pt modelId="{58D27378-5C50-4223-81A4-3A150B47B6CC}" type="pres">
      <dgm:prSet presAssocID="{FBD57C48-A18E-4DA7-A234-D215F3B7E0AD}" presName="sibTrans" presStyleCnt="0"/>
      <dgm:spPr/>
    </dgm:pt>
    <dgm:pt modelId="{9557C6B2-ADAA-41FB-9623-55CEA5B772C8}" type="pres">
      <dgm:prSet presAssocID="{F92CF0DE-F605-4DDE-8E07-C16CF7BFB426}" presName="compNode" presStyleCnt="0"/>
      <dgm:spPr/>
    </dgm:pt>
    <dgm:pt modelId="{5F688460-5F3E-4C2C-AC14-E5D16FA64885}" type="pres">
      <dgm:prSet presAssocID="{F92CF0DE-F605-4DDE-8E07-C16CF7BFB426}" presName="iconBgRect" presStyleLbl="bgShp" presStyleIdx="1" presStyleCnt="3"/>
      <dgm:spPr/>
    </dgm:pt>
    <dgm:pt modelId="{86227E06-D43C-4DCA-921D-542C4946EB6B}" type="pres">
      <dgm:prSet presAssocID="{F92CF0DE-F605-4DDE-8E07-C16CF7BFB42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E7AC92C-368A-4A60-8EF1-FABB7E2CA4C5}" type="pres">
      <dgm:prSet presAssocID="{F92CF0DE-F605-4DDE-8E07-C16CF7BFB426}" presName="spaceRect" presStyleCnt="0"/>
      <dgm:spPr/>
    </dgm:pt>
    <dgm:pt modelId="{6BB8F757-3C3B-41CE-942A-0207A70EA68C}" type="pres">
      <dgm:prSet presAssocID="{F92CF0DE-F605-4DDE-8E07-C16CF7BFB426}" presName="textRect" presStyleLbl="revTx" presStyleIdx="1" presStyleCnt="3">
        <dgm:presLayoutVars>
          <dgm:chMax val="1"/>
          <dgm:chPref val="1"/>
        </dgm:presLayoutVars>
      </dgm:prSet>
      <dgm:spPr/>
    </dgm:pt>
    <dgm:pt modelId="{B034255F-5F83-4FB0-B507-04861A875C83}" type="pres">
      <dgm:prSet presAssocID="{1772D204-9CE8-4116-84B5-F304DA48507D}" presName="sibTrans" presStyleCnt="0"/>
      <dgm:spPr/>
    </dgm:pt>
    <dgm:pt modelId="{A77C5B5D-9F7A-4710-BDB6-FC2F2F0A8962}" type="pres">
      <dgm:prSet presAssocID="{B43CCCF9-8258-4A49-BD8F-75862ABF3240}" presName="compNode" presStyleCnt="0"/>
      <dgm:spPr/>
    </dgm:pt>
    <dgm:pt modelId="{755F2812-5070-4621-BD7A-B51F132B3FCE}" type="pres">
      <dgm:prSet presAssocID="{B43CCCF9-8258-4A49-BD8F-75862ABF3240}" presName="iconBgRect" presStyleLbl="bgShp" presStyleIdx="2" presStyleCnt="3"/>
      <dgm:spPr/>
    </dgm:pt>
    <dgm:pt modelId="{510F142D-856B-4C96-BD60-B1DB6842383A}" type="pres">
      <dgm:prSet presAssocID="{B43CCCF9-8258-4A49-BD8F-75862ABF32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C14EAEC-7C8E-4543-9757-62157DF61BE8}" type="pres">
      <dgm:prSet presAssocID="{B43CCCF9-8258-4A49-BD8F-75862ABF3240}" presName="spaceRect" presStyleCnt="0"/>
      <dgm:spPr/>
    </dgm:pt>
    <dgm:pt modelId="{99950ACE-FD1A-40B7-8319-A27DBD5E5FB0}" type="pres">
      <dgm:prSet presAssocID="{B43CCCF9-8258-4A49-BD8F-75862ABF324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E4B7509-CB30-4913-AA69-DF6397A7E645}" type="presOf" srcId="{5FCE7349-5E0C-4897-86A1-A6FDD32A42FE}" destId="{6228C62C-63F8-48C3-98B2-B6CE63AE14DE}" srcOrd="0" destOrd="0" presId="urn:microsoft.com/office/officeart/2018/5/layout/IconCircleLabelList"/>
    <dgm:cxn modelId="{17DFED40-A474-4A72-A222-9AF62EFE6DB2}" srcId="{5FCE7349-5E0C-4897-86A1-A6FDD32A42FE}" destId="{F92CF0DE-F605-4DDE-8E07-C16CF7BFB426}" srcOrd="1" destOrd="0" parTransId="{49E8EC31-B528-4C63-B23C-C5C862D9CF50}" sibTransId="{1772D204-9CE8-4116-84B5-F304DA48507D}"/>
    <dgm:cxn modelId="{E294F771-47BB-4235-AAFD-5FDDAD42E790}" type="presOf" srcId="{A141A5D2-5819-4D18-950B-AAE6CF6EA217}" destId="{3C3AC980-5643-46E3-8699-45BA77700769}" srcOrd="0" destOrd="0" presId="urn:microsoft.com/office/officeart/2018/5/layout/IconCircleLabelList"/>
    <dgm:cxn modelId="{41841EBF-1420-4AF0-98B7-F34C5668A37D}" type="presOf" srcId="{F92CF0DE-F605-4DDE-8E07-C16CF7BFB426}" destId="{6BB8F757-3C3B-41CE-942A-0207A70EA68C}" srcOrd="0" destOrd="0" presId="urn:microsoft.com/office/officeart/2018/5/layout/IconCircleLabelList"/>
    <dgm:cxn modelId="{FC3FE2C9-AB9C-4884-9A74-F291819F62C1}" type="presOf" srcId="{B43CCCF9-8258-4A49-BD8F-75862ABF3240}" destId="{99950ACE-FD1A-40B7-8319-A27DBD5E5FB0}" srcOrd="0" destOrd="0" presId="urn:microsoft.com/office/officeart/2018/5/layout/IconCircleLabelList"/>
    <dgm:cxn modelId="{C81104E6-1647-41CE-B189-36FD0AC108A0}" srcId="{5FCE7349-5E0C-4897-86A1-A6FDD32A42FE}" destId="{A141A5D2-5819-4D18-950B-AAE6CF6EA217}" srcOrd="0" destOrd="0" parTransId="{7F08F41E-FE53-4DE7-A489-C99DAE2E27FE}" sibTransId="{FBD57C48-A18E-4DA7-A234-D215F3B7E0AD}"/>
    <dgm:cxn modelId="{B15DBDF3-ABE9-41B9-A4D9-CD9D1B110AA8}" srcId="{5FCE7349-5E0C-4897-86A1-A6FDD32A42FE}" destId="{B43CCCF9-8258-4A49-BD8F-75862ABF3240}" srcOrd="2" destOrd="0" parTransId="{0DA79140-0E71-4388-9DB2-589747C6F5E1}" sibTransId="{A71BE76D-2C91-4D3B-B64F-B31FD1B68A35}"/>
    <dgm:cxn modelId="{EE8D9EF3-7697-4C1B-AFBD-B1E22FE51F6B}" type="presParOf" srcId="{6228C62C-63F8-48C3-98B2-B6CE63AE14DE}" destId="{D9610FD4-A0D8-4C49-BBF6-05AB5CAEE1B7}" srcOrd="0" destOrd="0" presId="urn:microsoft.com/office/officeart/2018/5/layout/IconCircleLabelList"/>
    <dgm:cxn modelId="{0046D333-E508-4CDE-9584-BD65F1AB2EF4}" type="presParOf" srcId="{D9610FD4-A0D8-4C49-BBF6-05AB5CAEE1B7}" destId="{FBFBAE7D-8F1F-40C2-BFEB-183147C84366}" srcOrd="0" destOrd="0" presId="urn:microsoft.com/office/officeart/2018/5/layout/IconCircleLabelList"/>
    <dgm:cxn modelId="{E2A957FC-8FF7-472C-B70A-0E4DA4CBE163}" type="presParOf" srcId="{D9610FD4-A0D8-4C49-BBF6-05AB5CAEE1B7}" destId="{64056D29-7494-46EF-B543-43697B3EEB28}" srcOrd="1" destOrd="0" presId="urn:microsoft.com/office/officeart/2018/5/layout/IconCircleLabelList"/>
    <dgm:cxn modelId="{5EEB15DE-8675-4DE6-A103-A29FA85FEA51}" type="presParOf" srcId="{D9610FD4-A0D8-4C49-BBF6-05AB5CAEE1B7}" destId="{D02AEE61-4F43-4C24-A434-3115238A8BF6}" srcOrd="2" destOrd="0" presId="urn:microsoft.com/office/officeart/2018/5/layout/IconCircleLabelList"/>
    <dgm:cxn modelId="{30CBEFC3-13FA-427B-A965-3B261CFC0474}" type="presParOf" srcId="{D9610FD4-A0D8-4C49-BBF6-05AB5CAEE1B7}" destId="{3C3AC980-5643-46E3-8699-45BA77700769}" srcOrd="3" destOrd="0" presId="urn:microsoft.com/office/officeart/2018/5/layout/IconCircleLabelList"/>
    <dgm:cxn modelId="{BBA2A04A-6F0A-47F9-95FF-729BB209C2AC}" type="presParOf" srcId="{6228C62C-63F8-48C3-98B2-B6CE63AE14DE}" destId="{58D27378-5C50-4223-81A4-3A150B47B6CC}" srcOrd="1" destOrd="0" presId="urn:microsoft.com/office/officeart/2018/5/layout/IconCircleLabelList"/>
    <dgm:cxn modelId="{48310A4B-F4CC-4269-8BEA-5B4EAF25C545}" type="presParOf" srcId="{6228C62C-63F8-48C3-98B2-B6CE63AE14DE}" destId="{9557C6B2-ADAA-41FB-9623-55CEA5B772C8}" srcOrd="2" destOrd="0" presId="urn:microsoft.com/office/officeart/2018/5/layout/IconCircleLabelList"/>
    <dgm:cxn modelId="{2028F452-EC86-4896-9C5E-A1D028E6A36C}" type="presParOf" srcId="{9557C6B2-ADAA-41FB-9623-55CEA5B772C8}" destId="{5F688460-5F3E-4C2C-AC14-E5D16FA64885}" srcOrd="0" destOrd="0" presId="urn:microsoft.com/office/officeart/2018/5/layout/IconCircleLabelList"/>
    <dgm:cxn modelId="{301929E5-56AA-4E12-8657-77B1FE771668}" type="presParOf" srcId="{9557C6B2-ADAA-41FB-9623-55CEA5B772C8}" destId="{86227E06-D43C-4DCA-921D-542C4946EB6B}" srcOrd="1" destOrd="0" presId="urn:microsoft.com/office/officeart/2018/5/layout/IconCircleLabelList"/>
    <dgm:cxn modelId="{85535A19-B604-41A7-BC1C-3450DD65D29C}" type="presParOf" srcId="{9557C6B2-ADAA-41FB-9623-55CEA5B772C8}" destId="{1E7AC92C-368A-4A60-8EF1-FABB7E2CA4C5}" srcOrd="2" destOrd="0" presId="urn:microsoft.com/office/officeart/2018/5/layout/IconCircleLabelList"/>
    <dgm:cxn modelId="{7A3B17A7-A2B3-44AF-883C-14EC9AB39C19}" type="presParOf" srcId="{9557C6B2-ADAA-41FB-9623-55CEA5B772C8}" destId="{6BB8F757-3C3B-41CE-942A-0207A70EA68C}" srcOrd="3" destOrd="0" presId="urn:microsoft.com/office/officeart/2018/5/layout/IconCircleLabelList"/>
    <dgm:cxn modelId="{C22C8554-B722-4429-A602-AE1D3122482C}" type="presParOf" srcId="{6228C62C-63F8-48C3-98B2-B6CE63AE14DE}" destId="{B034255F-5F83-4FB0-B507-04861A875C83}" srcOrd="3" destOrd="0" presId="urn:microsoft.com/office/officeart/2018/5/layout/IconCircleLabelList"/>
    <dgm:cxn modelId="{14383E6F-F5E3-4607-A29E-B8B9C1A54CBB}" type="presParOf" srcId="{6228C62C-63F8-48C3-98B2-B6CE63AE14DE}" destId="{A77C5B5D-9F7A-4710-BDB6-FC2F2F0A8962}" srcOrd="4" destOrd="0" presId="urn:microsoft.com/office/officeart/2018/5/layout/IconCircleLabelList"/>
    <dgm:cxn modelId="{C3976FDF-DCD7-44E2-A326-A1A83C8F13E3}" type="presParOf" srcId="{A77C5B5D-9F7A-4710-BDB6-FC2F2F0A8962}" destId="{755F2812-5070-4621-BD7A-B51F132B3FCE}" srcOrd="0" destOrd="0" presId="urn:microsoft.com/office/officeart/2018/5/layout/IconCircleLabelList"/>
    <dgm:cxn modelId="{A61FED0E-6BAB-4E5C-B072-2BD7831B4FC0}" type="presParOf" srcId="{A77C5B5D-9F7A-4710-BDB6-FC2F2F0A8962}" destId="{510F142D-856B-4C96-BD60-B1DB6842383A}" srcOrd="1" destOrd="0" presId="urn:microsoft.com/office/officeart/2018/5/layout/IconCircleLabelList"/>
    <dgm:cxn modelId="{1A6DE072-8D35-41E8-84B6-4CA3E410A219}" type="presParOf" srcId="{A77C5B5D-9F7A-4710-BDB6-FC2F2F0A8962}" destId="{1C14EAEC-7C8E-4543-9757-62157DF61BE8}" srcOrd="2" destOrd="0" presId="urn:microsoft.com/office/officeart/2018/5/layout/IconCircleLabelList"/>
    <dgm:cxn modelId="{09A14F0D-0D6C-43A9-BE34-27F96040CF1E}" type="presParOf" srcId="{A77C5B5D-9F7A-4710-BDB6-FC2F2F0A8962}" destId="{99950ACE-FD1A-40B7-8319-A27DBD5E5F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BAE7D-8F1F-40C2-BFEB-183147C84366}">
      <dsp:nvSpPr>
        <dsp:cNvPr id="0" name=""/>
        <dsp:cNvSpPr/>
      </dsp:nvSpPr>
      <dsp:spPr>
        <a:xfrm>
          <a:off x="281696" y="2333"/>
          <a:ext cx="880330" cy="88033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056D29-7494-46EF-B543-43697B3EEB28}">
      <dsp:nvSpPr>
        <dsp:cNvPr id="0" name=""/>
        <dsp:cNvSpPr/>
      </dsp:nvSpPr>
      <dsp:spPr>
        <a:xfrm>
          <a:off x="469307" y="189944"/>
          <a:ext cx="505107" cy="5051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AC980-5643-46E3-8699-45BA77700769}">
      <dsp:nvSpPr>
        <dsp:cNvPr id="0" name=""/>
        <dsp:cNvSpPr/>
      </dsp:nvSpPr>
      <dsp:spPr>
        <a:xfrm>
          <a:off x="279" y="1156864"/>
          <a:ext cx="1443164" cy="57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Final Project Presentation</a:t>
          </a:r>
        </a:p>
      </dsp:txBody>
      <dsp:txXfrm>
        <a:off x="279" y="1156864"/>
        <a:ext cx="1443164" cy="577265"/>
      </dsp:txXfrm>
    </dsp:sp>
    <dsp:sp modelId="{5F688460-5F3E-4C2C-AC14-E5D16FA64885}">
      <dsp:nvSpPr>
        <dsp:cNvPr id="0" name=""/>
        <dsp:cNvSpPr/>
      </dsp:nvSpPr>
      <dsp:spPr>
        <a:xfrm>
          <a:off x="1977413" y="2333"/>
          <a:ext cx="880330" cy="8803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27E06-D43C-4DCA-921D-542C4946EB6B}">
      <dsp:nvSpPr>
        <dsp:cNvPr id="0" name=""/>
        <dsp:cNvSpPr/>
      </dsp:nvSpPr>
      <dsp:spPr>
        <a:xfrm>
          <a:off x="2165025" y="189944"/>
          <a:ext cx="505107" cy="5051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8F757-3C3B-41CE-942A-0207A70EA68C}">
      <dsp:nvSpPr>
        <dsp:cNvPr id="0" name=""/>
        <dsp:cNvSpPr/>
      </dsp:nvSpPr>
      <dsp:spPr>
        <a:xfrm>
          <a:off x="1695996" y="1156864"/>
          <a:ext cx="1443164" cy="57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Built using Oracle SQL &amp; PL/SQL</a:t>
          </a:r>
        </a:p>
      </dsp:txBody>
      <dsp:txXfrm>
        <a:off x="1695996" y="1156864"/>
        <a:ext cx="1443164" cy="577265"/>
      </dsp:txXfrm>
    </dsp:sp>
    <dsp:sp modelId="{755F2812-5070-4621-BD7A-B51F132B3FCE}">
      <dsp:nvSpPr>
        <dsp:cNvPr id="0" name=""/>
        <dsp:cNvSpPr/>
      </dsp:nvSpPr>
      <dsp:spPr>
        <a:xfrm>
          <a:off x="1129554" y="2094921"/>
          <a:ext cx="880330" cy="88033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F142D-856B-4C96-BD60-B1DB6842383A}">
      <dsp:nvSpPr>
        <dsp:cNvPr id="0" name=""/>
        <dsp:cNvSpPr/>
      </dsp:nvSpPr>
      <dsp:spPr>
        <a:xfrm>
          <a:off x="1317166" y="2282532"/>
          <a:ext cx="505107" cy="5051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50ACE-FD1A-40B7-8319-A27DBD5E5FB0}">
      <dsp:nvSpPr>
        <dsp:cNvPr id="0" name=""/>
        <dsp:cNvSpPr/>
      </dsp:nvSpPr>
      <dsp:spPr>
        <a:xfrm>
          <a:off x="848137" y="3249452"/>
          <a:ext cx="1443164" cy="57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Includes Tables, Package, Procedures, Views, Test Cases</a:t>
          </a:r>
        </a:p>
      </dsp:txBody>
      <dsp:txXfrm>
        <a:off x="848137" y="3249452"/>
        <a:ext cx="1443164" cy="577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1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5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8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8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3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9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4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6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5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5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38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659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22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89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58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36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138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 sz="3700" dirty="0"/>
              <a:t>Commuter Reservation System (CRS)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4B1D6C-D005-1E18-8A8B-35AF57950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277357"/>
              </p:ext>
            </p:extLst>
          </p:nvPr>
        </p:nvGraphicFramePr>
        <p:xfrm>
          <a:off x="5661660" y="2514599"/>
          <a:ext cx="3139440" cy="3829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A951EB-697A-33D4-8AC8-F772D184C73E}"/>
              </a:ext>
            </a:extLst>
          </p:cNvPr>
          <p:cNvSpPr txBox="1"/>
          <p:nvPr/>
        </p:nvSpPr>
        <p:spPr>
          <a:xfrm>
            <a:off x="342900" y="3318570"/>
            <a:ext cx="3695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Team One</a:t>
            </a:r>
            <a:br>
              <a:rPr lang="en-US" sz="2800" u="sng" dirty="0"/>
            </a:br>
            <a:endParaRPr lang="en-US" sz="2800" u="sng" dirty="0"/>
          </a:p>
          <a:p>
            <a:r>
              <a:rPr lang="en-US" sz="2800" dirty="0"/>
              <a:t>Amruta Mazumdar</a:t>
            </a:r>
          </a:p>
          <a:p>
            <a:r>
              <a:rPr lang="en-US" sz="2800" dirty="0"/>
              <a:t>Dhruvi Mehta</a:t>
            </a:r>
            <a:br>
              <a:rPr lang="en-US" sz="2800" u="sng" dirty="0"/>
            </a:br>
            <a:r>
              <a:rPr lang="en-US" sz="2800" dirty="0"/>
              <a:t>Guhan Santhanam</a:t>
            </a:r>
          </a:p>
          <a:p>
            <a:endParaRPr lang="en-US" sz="2800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Built a simplified railway reservation system using Oracle SQL &amp; PL/SQL.</a:t>
            </a:r>
          </a:p>
          <a:p>
            <a:endParaRPr lang="en-US" dirty="0"/>
          </a:p>
          <a:p>
            <a:r>
              <a:rPr lang="en-US" dirty="0"/>
              <a:t>Supports passenger registration, ticket booking, waitlisting, and cancellations.</a:t>
            </a:r>
          </a:p>
          <a:p>
            <a:endParaRPr lang="en-US" dirty="0"/>
          </a:p>
          <a:p>
            <a:r>
              <a:rPr lang="en-US" dirty="0"/>
              <a:t>All objects (tables, package, procedures, views) created under a single application user.</a:t>
            </a:r>
          </a:p>
          <a:p>
            <a:endParaRPr lang="en-US" dirty="0"/>
          </a:p>
          <a:p>
            <a:r>
              <a:rPr lang="en-US" dirty="0"/>
              <a:t>Enforces key business rules like seat limits, schedule validation, and duplicate prevention.</a:t>
            </a:r>
          </a:p>
          <a:p>
            <a:endParaRPr lang="en-US" dirty="0"/>
          </a:p>
          <a:p>
            <a:r>
              <a:rPr lang="en-US" dirty="0"/>
              <a:t>Includes reporting views and a full test suite to validate the system’s behavior.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(Tables)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CRS_TRAIN_INFO</a:t>
            </a:r>
            <a:r>
              <a:rPr lang="en-US" dirty="0"/>
              <a:t> – Stores train details such as number, route, seat counts, and fares.</a:t>
            </a:r>
          </a:p>
          <a:p>
            <a:r>
              <a:rPr lang="en-US" b="1" dirty="0"/>
              <a:t>CRS_DAY_SCHEDULE</a:t>
            </a:r>
            <a:r>
              <a:rPr lang="en-US" dirty="0"/>
              <a:t> – Reference table containing all 7 days of the week.</a:t>
            </a:r>
          </a:p>
          <a:p>
            <a:r>
              <a:rPr lang="en-US" b="1" dirty="0"/>
              <a:t>CRS_TRAIN_SCHEDULE</a:t>
            </a:r>
            <a:r>
              <a:rPr lang="en-US" dirty="0"/>
              <a:t> – Maps trains to the days they operate.</a:t>
            </a:r>
          </a:p>
          <a:p>
            <a:r>
              <a:rPr lang="en-US" b="1" dirty="0"/>
              <a:t>CRS_PASSENGER</a:t>
            </a:r>
            <a:r>
              <a:rPr lang="en-US" dirty="0"/>
              <a:t> – Holds passenger information with unique email and phone constraints.</a:t>
            </a:r>
          </a:p>
          <a:p>
            <a:r>
              <a:rPr lang="en-US" b="1" dirty="0"/>
              <a:t>CRS_RESERVATION</a:t>
            </a:r>
            <a:r>
              <a:rPr lang="en-US" dirty="0"/>
              <a:t> – Stores booking records, seat class, status (confirmed/waitlist/cancelled), and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Rules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Each passenger must have a unique email and phone number.</a:t>
            </a:r>
          </a:p>
          <a:p>
            <a:r>
              <a:rPr lang="en-US" sz="1800" dirty="0"/>
              <a:t>Tickets can only be booked if the train exists and operates on that date.</a:t>
            </a:r>
          </a:p>
          <a:p>
            <a:r>
              <a:rPr lang="en-US" sz="1800" dirty="0"/>
              <a:t>Advance booking limited to 7 days from today.</a:t>
            </a:r>
          </a:p>
          <a:p>
            <a:r>
              <a:rPr lang="en-US" sz="1800" dirty="0"/>
              <a:t>Only two seat classes allowed: First Class (FC) and Economy (ECON).</a:t>
            </a:r>
          </a:p>
          <a:p>
            <a:r>
              <a:rPr lang="en-US" sz="1800" dirty="0"/>
              <a:t>Each class allows 40 confirmed seats + 5 waitlist positions.</a:t>
            </a:r>
          </a:p>
          <a:p>
            <a:r>
              <a:rPr lang="en-US" sz="1800" dirty="0"/>
              <a:t>Duplicate bookings (same passenger, train, date, class) are not allowed.</a:t>
            </a:r>
          </a:p>
          <a:p>
            <a:r>
              <a:rPr lang="en-US" sz="1800" dirty="0"/>
              <a:t>Cancellation promotes the first waitlisted passenger to confirmed.</a:t>
            </a:r>
          </a:p>
          <a:p>
            <a:r>
              <a:rPr lang="en-US" sz="1800" dirty="0"/>
              <a:t>Travel date must be today or future, not in the past.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4295410" cy="4069080"/>
          </a:xfrm>
        </p:spPr>
        <p:txBody>
          <a:bodyPr/>
          <a:lstStyle/>
          <a:p>
            <a:r>
              <a:rPr dirty="0"/>
              <a:t>Validate passenger &amp; train</a:t>
            </a:r>
          </a:p>
          <a:p>
            <a:r>
              <a:rPr dirty="0"/>
              <a:t>Validate date, class, operating schedule</a:t>
            </a:r>
          </a:p>
          <a:p>
            <a:r>
              <a:rPr dirty="0"/>
              <a:t>Check confirmed &amp; waitlist capacity</a:t>
            </a:r>
          </a:p>
          <a:p>
            <a:r>
              <a:rPr dirty="0"/>
              <a:t>Decide CONFIRMED or WAITLISTED</a:t>
            </a:r>
          </a:p>
          <a:p>
            <a:r>
              <a:rPr dirty="0"/>
              <a:t>Generate booking ID &amp; insert record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0DB043E3-2972-BC06-2EFD-A72562DE2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62" r="7022" b="13977"/>
          <a:stretch>
            <a:fillRect/>
          </a:stretch>
        </p:blipFill>
        <p:spPr>
          <a:xfrm>
            <a:off x="5130800" y="1869602"/>
            <a:ext cx="3583940" cy="4782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v_passenger_bookings </a:t>
            </a:r>
            <a:r>
              <a:rPr lang="en-US" dirty="0"/>
              <a:t>- Shows each passenger’s booking history with train, date, class, status, and fare.</a:t>
            </a:r>
          </a:p>
          <a:p>
            <a:pPr marL="0" indent="0">
              <a:buNone/>
            </a:pPr>
            <a:r>
              <a:rPr lang="en-US" b="1" dirty="0"/>
              <a:t>v_train_availability </a:t>
            </a:r>
            <a:r>
              <a:rPr lang="en-US" dirty="0"/>
              <a:t>- Summarizes trains, routes, total seats, fares, and the days they operate.</a:t>
            </a:r>
          </a:p>
          <a:p>
            <a:pPr marL="0" indent="0">
              <a:buNone/>
            </a:pPr>
            <a:r>
              <a:rPr lang="en-US" b="1" dirty="0"/>
              <a:t>v_daily_booking_summary </a:t>
            </a:r>
            <a:r>
              <a:rPr lang="en-US" dirty="0"/>
              <a:t>- Aggregates bookings per day and class (confirmed, waitlisted, cancelled, available seats).</a:t>
            </a:r>
          </a:p>
          <a:p>
            <a:pPr marL="0" indent="0">
              <a:buNone/>
            </a:pPr>
            <a:r>
              <a:rPr lang="en-US" b="1" dirty="0"/>
              <a:t>v_waitlist_status </a:t>
            </a:r>
            <a:r>
              <a:rPr lang="en-US" dirty="0"/>
              <a:t>- Lists all waitlisted passengers with train, date, class, and waitlist position.</a:t>
            </a:r>
          </a:p>
          <a:p>
            <a:pPr marL="0" indent="0">
              <a:buNone/>
            </a:pPr>
            <a:r>
              <a:rPr lang="en-US" b="1" dirty="0"/>
              <a:t>v_revenue_report </a:t>
            </a:r>
            <a:r>
              <a:rPr lang="en-US" dirty="0"/>
              <a:t>- Calculates monthly revenue per train and class based on confirmed bookings.</a:t>
            </a:r>
          </a:p>
          <a:p>
            <a:pPr marL="0" indent="0">
              <a:buNone/>
            </a:pPr>
            <a:r>
              <a:rPr lang="en-US" b="1" dirty="0"/>
              <a:t>v_passenger_demographics </a:t>
            </a:r>
            <a:r>
              <a:rPr lang="en-US" dirty="0"/>
              <a:t>- Groups passengers by age category (minor, adult, senior) for simple demographic analysis.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9F22-A3AB-028A-DCB2-63C74274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9D03-122A-4634-E3D2-5C7C13C4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EDBB-A443-860D-902E-4E80F8795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&amp; ERD – Dhruvi Mehta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/>
              <a:t>Procedure &amp; Scripts– Amruta Mazumdar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/>
              <a:t>Views &amp; Documentation – Guhan Santhanam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807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19 total test cases covering: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Valid/invalid passenger registration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Booking (success &amp; failure scenarios)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Waitlist behavior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Cancellation &amp; promotion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/>
              <a:t>• View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1315" y="2750819"/>
            <a:ext cx="3341370" cy="1150621"/>
          </a:xfrm>
        </p:spPr>
        <p:txBody>
          <a:bodyPr>
            <a:noAutofit/>
          </a:bodyPr>
          <a:lstStyle/>
          <a:p>
            <a:r>
              <a:rPr lang="en-US" sz="8000" dirty="0"/>
              <a:t>DEMO</a:t>
            </a:r>
            <a:endParaRPr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343</TotalTime>
  <Words>523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Commuter Reservation System (CRS)</vt:lpstr>
      <vt:lpstr>Project Overview</vt:lpstr>
      <vt:lpstr>Data Model (Tables)</vt:lpstr>
      <vt:lpstr>Business Rules Implemented</vt:lpstr>
      <vt:lpstr>Booking Workflow</vt:lpstr>
      <vt:lpstr>Reporting Views</vt:lpstr>
      <vt:lpstr>Contributions</vt:lpstr>
      <vt:lpstr>Test Cases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Guhan Santhanam</dc:creator>
  <cp:keywords/>
  <dc:description>generated using python-pptx</dc:description>
  <cp:lastModifiedBy>Guhan Santhanam</cp:lastModifiedBy>
  <cp:revision>3</cp:revision>
  <dcterms:created xsi:type="dcterms:W3CDTF">2013-01-27T09:14:16Z</dcterms:created>
  <dcterms:modified xsi:type="dcterms:W3CDTF">2025-12-04T02:16:05Z</dcterms:modified>
  <cp:category/>
</cp:coreProperties>
</file>